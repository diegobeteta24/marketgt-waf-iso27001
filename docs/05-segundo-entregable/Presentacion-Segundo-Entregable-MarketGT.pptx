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7234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Mariano Galvez de Guatemala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9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Ingenieria en Sistemas de Informacion   ·   Seguridad y Auditoria de Sistemas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MarketGT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 electronico con seguridad gestionada para la pequena empresa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578608"/>
            <a:ext cx="1463040" cy="41148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entregable del proyecto de curso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21868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Antonio Beteta Garcia</a:t>
            </a:r>
            <a:r>
              <a:rPr lang="en-US" sz="1200" dirty="0">
                <a:solidFill>
                  <a:srgbClr val="9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9490-22-12878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1129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Rogelio Herrera Soto</a:t>
            </a:r>
            <a:r>
              <a:rPr lang="en-US" sz="1200" dirty="0">
                <a:solidFill>
                  <a:srgbClr val="9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9490-22-11551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80390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 Roberto Rompich Yoc</a:t>
            </a:r>
            <a:r>
              <a:rPr lang="en-US" sz="1200" dirty="0">
                <a:solidFill>
                  <a:srgbClr val="9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9490-17-1752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3154680"/>
            <a:ext cx="2743200" cy="960120"/>
          </a:xfrm>
          <a:prstGeom prst="rect">
            <a:avLst/>
          </a:prstGeom>
          <a:solidFill>
            <a:srgbClr val="17395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6126480" y="315468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publicado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marketgt.duckdns.org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434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9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Guatemala, 26 de septiembre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50292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320040" y="12801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1887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41248" y="47548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como servicio: el comerciante contrata la tienda y la seguridad que la protege, indivisibles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84048" y="1097280"/>
            <a:ext cx="4114800" cy="292608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493776" y="1097280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SEGMENTO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389888"/>
            <a:ext cx="4114800" cy="2395728"/>
          </a:xfrm>
          <a:prstGeom prst="rect">
            <a:avLst/>
          </a:prstGeom>
          <a:solidFill>
            <a:srgbClr val="F4F6F9"/>
          </a:solidFill>
          <a:ln w="1270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566928" y="1517904"/>
            <a:ext cx="3794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▪"/>
            </a:pPr>
            <a:r>
              <a:rPr lang="en-US" sz="115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 guatemalteca formalmente constituida</a:t>
            </a:r>
            <a:endParaRPr lang="en-US" sz="1150" dirty="0"/>
          </a:p>
          <a:p>
            <a:pPr marL="342900" indent="-342900">
              <a:lnSpc>
                <a:spcPct val="122000"/>
              </a:lnSpc>
              <a:buSzPct val="100000"/>
              <a:buChar char="▪"/>
            </a:pPr>
            <a:r>
              <a:rPr lang="en-US" sz="115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 a 20 empleados</a:t>
            </a:r>
            <a:endParaRPr lang="en-US" sz="1150" dirty="0"/>
          </a:p>
          <a:p>
            <a:pPr marL="342900" indent="-342900">
              <a:lnSpc>
                <a:spcPct val="122000"/>
              </a:lnSpc>
              <a:buSzPct val="100000"/>
              <a:buChar char="▪"/>
            </a:pPr>
            <a:r>
              <a:rPr lang="en-US" sz="115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 hoy por redes sociales, sin tienda propia</a:t>
            </a:r>
            <a:endParaRPr lang="en-US" sz="1150" dirty="0"/>
          </a:p>
          <a:p>
            <a:pPr marL="342900" indent="-342900">
              <a:lnSpc>
                <a:spcPct val="122000"/>
              </a:lnSpc>
              <a:buSzPct val="100000"/>
              <a:buChar char="▪"/>
            </a:pPr>
            <a:r>
              <a:rPr lang="en-US" sz="115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personal dedicado a TI o a seguridad</a:t>
            </a:r>
            <a:endParaRPr lang="en-US" sz="1150" dirty="0"/>
          </a:p>
          <a:p>
            <a:pPr marL="342900" indent="-342900">
              <a:lnSpc>
                <a:spcPct val="122000"/>
              </a:lnSpc>
              <a:buSzPct val="100000"/>
              <a:buChar char="▪"/>
            </a:pPr>
            <a:r>
              <a:rPr lang="en-US" sz="115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tecnologico menor a Q1,000 al mes</a:t>
            </a:r>
            <a:endParaRPr lang="en-US" sz="1150" dirty="0"/>
          </a:p>
          <a:p>
            <a:pPr marL="342900" indent="-342900">
              <a:lnSpc>
                <a:spcPct val="122000"/>
              </a:lnSpc>
              <a:buSzPct val="100000"/>
              <a:buChar char="▪"/>
            </a:pPr>
            <a:r>
              <a:rPr lang="en-US" sz="115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Obligada al regimen de factura electronica (FEL)</a:t>
            </a:r>
            <a:endParaRPr lang="en-US" sz="1150" dirty="0"/>
          </a:p>
          <a:p>
            <a:pPr marL="342900" indent="-342900">
              <a:lnSpc>
                <a:spcPct val="122000"/>
              </a:lnSpc>
              <a:buSzPct val="100000"/>
              <a:buChar char="▪"/>
            </a:pPr>
            <a:r>
              <a:rPr lang="en-US" sz="115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por transferencia, deposito y contra entrega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45152" y="1097280"/>
            <a:ext cx="4114800" cy="292608"/>
          </a:xfrm>
          <a:prstGeom prst="rect">
            <a:avLst/>
          </a:prstGeom>
          <a:solidFill>
            <a:srgbClr val="1F6B42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4754880" y="1097280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ESTE SEGMENTO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5152" y="1389888"/>
            <a:ext cx="4114800" cy="2395728"/>
          </a:xfrm>
          <a:prstGeom prst="rect">
            <a:avLst/>
          </a:prstGeom>
          <a:solidFill>
            <a:srgbClr val="F4F6F9"/>
          </a:solidFill>
          <a:ln w="1270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4828032" y="1517904"/>
            <a:ext cx="3794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Exposicion.  </a:t>
            </a:r>
            <a:r>
              <a:rPr lang="en-US" sz="110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una aplicacion en Internet con la misma superficie de ataque que una empresa grande, sin ninguna de sus capacidades defensivas.
</a:t>
            </a:r>
            <a:r>
              <a:rPr lang="en-US" sz="11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Incentivo.  </a:t>
            </a:r>
            <a:r>
              <a:rPr lang="en-US" sz="110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plataformas internacionales cobran en dolares mas comision por venta: exposicion cambiaria mensual sobre margenes estrechos.
</a:t>
            </a:r>
            <a:r>
              <a:rPr lang="en-US" sz="11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Cumplimiento.  </a:t>
            </a:r>
            <a:r>
              <a:rPr lang="en-US" sz="110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factura electronica y las obligaciones sobre datos personales aplican sin importar el tamano. Una plataforma extranjera no las contempla.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4005072"/>
            <a:ext cx="8375904" cy="493776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6" name="Text 14"/>
          <p:cNvSpPr/>
          <p:nvPr/>
        </p:nvSpPr>
        <p:spPr>
          <a:xfrm>
            <a:off x="566928" y="4005072"/>
            <a:ext cx="80101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 de valor no es la tienda: es que la seguridad deje de ser responsabilidad de quien no puede asumirla.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0" y="4809744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4809744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MarketGT  ·  Seguridad y Auditoria de Sistemas  ·  UMG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50292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320040" y="12801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1887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 Seguridad   ·   ANTES de la implementacion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41248" y="47548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(hardware y software) e Informacion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84048" y="1078992"/>
            <a:ext cx="4114800" cy="292608"/>
          </a:xfrm>
          <a:prstGeom prst="rect">
            <a:avLst/>
          </a:prstGeom>
          <a:solidFill>
            <a:srgbClr val="B32424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493776" y="1078992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 ·  HARDWARE Y SOFTWARE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444752"/>
            <a:ext cx="393192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Hardware.  </a:t>
            </a:r>
            <a:r>
              <a:rPr lang="en-US" sz="105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virtualizada de un tercero: no hay control fisico del equipo. El perimetro deja de ser una puerta y pasa a ser la interfaz de red publicada.
</a:t>
            </a:r>
            <a:r>
              <a:rPr lang="en-US" sz="10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Software.  </a:t>
            </a:r>
            <a:r>
              <a:rPr lang="en-US" sz="105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 web accesible 24/7, sin autenticacion previa en el catalogo publico.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2542032"/>
          <a:ext cx="4114800" cy="1325880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Vulnerabilidad web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Frecuencia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Cross-Site Scripting (XSS)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B3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14.69 %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Componentes desactualizados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B3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12.36 %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Autenticacion debil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B3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9.25 %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Inyeccion SQL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B3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5.55 %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645152" y="1078992"/>
            <a:ext cx="4114800" cy="292608"/>
          </a:xfrm>
          <a:prstGeom prst="rect">
            <a:avLst/>
          </a:prstGeom>
          <a:solidFill>
            <a:srgbClr val="B32424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2" name="Text 9"/>
          <p:cNvSpPr/>
          <p:nvPr/>
        </p:nvSpPr>
        <p:spPr>
          <a:xfrm>
            <a:off x="4754880" y="1078992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INFORMACION EN CUSTODIA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45152" y="1444752"/>
          <a:ext cx="4114800" cy="1371600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 si se divulga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Credenciales y segundo factor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3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Medios de pago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3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personales de clientes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Catalogo, precios e historial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4645152" y="2971800"/>
            <a:ext cx="411480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5" name="Text 11"/>
          <p:cNvSpPr/>
          <p:nvPr/>
        </p:nvSpPr>
        <p:spPr>
          <a:xfrm>
            <a:off x="4791456" y="297180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informacion comprometida no es del comerciante: </a:t>
            </a:r>
            <a:r>
              <a:rPr lang="en-US" sz="105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de sus clientes, que no decidieron contratar el servicio ni pueden evaluar su seguridad.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84048" y="3950208"/>
            <a:ext cx="8375904" cy="493776"/>
          </a:xfrm>
          <a:prstGeom prst="rect">
            <a:avLst/>
          </a:prstGeom>
          <a:solidFill>
            <a:srgbClr val="B32424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7" name="Text 13"/>
          <p:cNvSpPr/>
          <p:nvPr/>
        </p:nvSpPr>
        <p:spPr>
          <a:xfrm>
            <a:off x="566928" y="3950208"/>
            <a:ext cx="80101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inicial:  sin inspeccion de trafico  ·  solo contrasena  ·  sin monitoreo  ·  sin plan de respuesta  ·  un ataque exitoso no deja rastro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8229600" y="4809744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84048" y="4809744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MarketGT  ·  Seguridad y Auditoria de Sistemas  ·  UMG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50292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320040" y="12801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1887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Clasificacion de Vulnerabilidad o Amenaza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41248" y="47548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naturaleza tecnica, categoria OWASP Top 10:2025, vector, criticidad y principio afectado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97280"/>
          <a:ext cx="8375904" cy="2371344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Amenaza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Naturaleza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C-I-D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Inyeccion SQL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Validacion de entrada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A05 Inyeccion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Remoto no autenticado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3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 I 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Autenticacion debil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acceso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A07 Autenticacion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Remoto no autenticado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3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 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Cross-Site Scripting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Validacion de salida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A05 Inyeccion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Remoto, via usuario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 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Componentes vulnerables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Cadena de suministro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A03 Cadena de sum.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Remoto, dependencia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 I 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Configuracion insegura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A02 Config. incorrecta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 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Envenenamiento SEO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 de contenido y abuso de reputacion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B3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cobertura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Remoto, via inyeccion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84048" y="3584448"/>
            <a:ext cx="8375904" cy="658368"/>
          </a:xfrm>
          <a:prstGeom prst="rect">
            <a:avLst/>
          </a:prstGeom>
          <a:solidFill>
            <a:srgbClr val="F4F6F9"/>
          </a:solidFill>
          <a:ln w="19050">
            <a:solidFill>
              <a:srgbClr val="8A5A0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6"/>
          <p:cNvSpPr/>
          <p:nvPr/>
        </p:nvSpPr>
        <p:spPr>
          <a:xfrm>
            <a:off x="566928" y="3584448"/>
            <a:ext cx="80101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fila resaltada es el hallazgo del proyecto.  </a:t>
            </a:r>
            <a:r>
              <a:rPr lang="en-US" sz="105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envenenamiento de posicionamiento no aparece en el OWASP Top 10 ni existe conjunto de reglas publico que lo cubra: OWASP clasifica la </a:t>
            </a:r>
            <a:r>
              <a:rPr lang="en-US" sz="1050" i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de entrada</a:t>
            </a:r>
            <a:r>
              <a:rPr lang="en-US" sz="105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ataque, no el </a:t>
            </a:r>
            <a:r>
              <a:rPr lang="en-US" sz="1050" i="1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r>
              <a:rPr lang="en-US" sz="105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quien busca posicionar contenido ajeno en un dominio con reputacion.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84048" y="4334256"/>
            <a:ext cx="8375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Confidencialidad   ·   I = Integridad   ·   D = Disponibilidad          Criticidad = probabilidad observada x impacto sobre el segmento objetivo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229600" y="4809744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809744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MarketGT  ·  Seguridad y Auditoria de Sistemas  ·  UMG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50292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320040" y="12801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1887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 Tecnologica   ·   CASO PRACTICO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41248" y="47548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capas de defensa en profundidad, y el caso real que definio las reglas propias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84048" y="1078992"/>
            <a:ext cx="3950208" cy="292608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493776" y="1078992"/>
            <a:ext cx="3730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SEIS CAPAS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444752"/>
          <a:ext cx="3950208" cy="1618488"/>
        </p:xfrm>
        <a:graphic>
          <a:graphicData uri="http://schemas.openxmlformats.org/drawingml/2006/table">
            <a:tbl>
              <a:tblPr/>
              <a:tblGrid>
                <a:gridCol w="1298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 Perimetro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Cloudflare  ·  mitigacion de denegacion de servicio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 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UFW y fail2ban  ·  solo 80 y 443 abiertos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 Sistema operativo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con endurecimiento CIS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4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 Cortafuegos web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4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ModSecurity 3 + OWASP CRS 4.29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 Aplicacion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Laravel  ·  TOTP + WebAuthn  ·  roles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  Datos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MariaDB cifrada  ·  respaldo externo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84048" y="3127248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entre el cortafuegos y la aplicacion se declara interna: </a:t>
            </a:r>
            <a:r>
              <a:rPr lang="en-US" sz="100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ninguna ruta que alcance la aplicacion sin atravesar el WAF, y eso se verifica desde fuera.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53712" y="1078992"/>
            <a:ext cx="4206240" cy="292608"/>
          </a:xfrm>
          <a:prstGeom prst="rect">
            <a:avLst/>
          </a:prstGeom>
          <a:solidFill>
            <a:srgbClr val="B32424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2" name="Text 9"/>
          <p:cNvSpPr/>
          <p:nvPr/>
        </p:nvSpPr>
        <p:spPr>
          <a:xfrm>
            <a:off x="4663440" y="1078992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PRACTICO  ·  EMPRESA REAL, DOMINIO ANONIMO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53712" y="1426464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 de busqueda de una empresa guatemalteca de videovigilancia:</a:t>
            </a:r>
            <a:endParaRPr lang="en-US" sz="1000" dirty="0"/>
          </a:p>
        </p:txBody>
      </p:sp>
      <p:graphicFrame>
        <p:nvGraphicFramePr>
          <p:cNvPr id="1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53712" y="1682496"/>
          <a:ext cx="4206240" cy="153619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que posiciona el dominio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6B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camaras de seguridad guatemala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B3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p9bet 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B3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0016bet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B3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96n.com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B3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kmj888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4553712" y="3273552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Diagnostico.  </a:t>
            </a:r>
            <a:r>
              <a:rPr lang="en-US" sz="100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impresiones y cero clics: el buscador muestra el dominio por contenido que no le pertenece. Invisible para el dueno, porque el sitio se ve normal.
</a:t>
            </a:r>
            <a:r>
              <a:rPr lang="en-US" sz="1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Respuesta.  </a:t>
            </a:r>
            <a:r>
              <a:rPr lang="en-US" sz="100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reglas propias en el rango 15000-15099: rastreador falsificado, contenido diferenciado, inyeccion de enlaces, redireccion abierta y extraccion masiva.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84048" y="4315968"/>
            <a:ext cx="8375904" cy="493776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7" name="Text 13"/>
          <p:cNvSpPr/>
          <p:nvPr/>
        </p:nvSpPr>
        <p:spPr>
          <a:xfrm>
            <a:off x="566928" y="4315968"/>
            <a:ext cx="80101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Verificable en vivo:  un ataque devuelve 403 con el ID de la regla activada y su puntuacion de anomalia  ·  marketgt.duckdns.org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8229600" y="4809744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84048" y="4809744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MarketGT  ·  Seguridad y Auditoria de Sistemas  ·  UMG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50292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320040" y="12801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1887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en base a Estandar   ·   DESPUES de la implementacion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41248" y="47548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27001:2022 como marco rector, con OWASP, CIS y NIST aportando el detalle tecnico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78992"/>
          <a:ext cx="8375904" cy="2176272"/>
        </p:xfrm>
        <a:graphic>
          <a:graphicData uri="http://schemas.openxmlformats.org/drawingml/2006/table">
            <a:tbl>
              <a:tblPr/>
              <a:tblGrid>
                <a:gridCol w="157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1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Anexo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Inspeccion de trafico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3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6B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ModSecurity 3 + OWASP CRS 4.29, paranoia 1 / deteccion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3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contrasena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6B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TOTP (RFC 6238) + WebAuthn resistente a suplantacion de sitio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Endurecimiento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3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Instalacion por defecto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6B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Benchmark de Ubuntu y parcheo automatico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Deteccion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3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6B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propio: ingesta, correlacion y alertas con estado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8.15, 8.16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3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6B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NIST SP 800-61, respaldo cifrado y restauracion probada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5.24-5.28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 SEO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3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cobertura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6B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reglas propias y verificacion de rastreadores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1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84048" y="3401568"/>
            <a:ext cx="3950208" cy="292608"/>
          </a:xfrm>
          <a:prstGeom prst="rect">
            <a:avLst/>
          </a:prstGeom>
          <a:solidFill>
            <a:srgbClr val="1F6B42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9" name="Text 6"/>
          <p:cNvSpPr/>
          <p:nvPr/>
        </p:nvSpPr>
        <p:spPr>
          <a:xfrm>
            <a:off x="493776" y="3401568"/>
            <a:ext cx="3730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TRIANGULO DE CIBERRESILIENCIA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84048" y="3694176"/>
            <a:ext cx="3950208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8"/>
          <p:cNvSpPr/>
          <p:nvPr/>
        </p:nvSpPr>
        <p:spPr>
          <a:xfrm>
            <a:off x="502920" y="369417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Proteccion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desarrollada   ·   </a:t>
            </a:r>
            <a:r>
              <a:rPr lang="en-US" sz="1000" b="1" dirty="0">
                <a:solidFill>
                  <a:srgbClr val="1F6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Deteccion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parcial   ·   </a:t>
            </a:r>
            <a:r>
              <a:rPr lang="en-US" sz="1000" b="1" dirty="0">
                <a:solidFill>
                  <a:srgbClr val="1F6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ausente, hoy operativa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53712" y="3401568"/>
            <a:ext cx="4206240" cy="292608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3" name="Text 10"/>
          <p:cNvSpPr/>
          <p:nvPr/>
        </p:nvSpPr>
        <p:spPr>
          <a:xfrm>
            <a:off x="4663440" y="3401568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ESTANDARES APLICADOS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53712" y="3694176"/>
            <a:ext cx="420624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5" name="Text 12"/>
          <p:cNvSpPr/>
          <p:nvPr/>
        </p:nvSpPr>
        <p:spPr>
          <a:xfrm>
            <a:off x="4672584" y="3694176"/>
            <a:ext cx="3968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27001:2022  ·  ISO/IEC 27002:2022  ·  OWASP Top 10:2025  ·  OWASP CRS 4.29  ·  PCI DSS v4.0 req. 6.4.2  ·  CIS Benchmark  ·  NIST SP 800-61 y 800-63B  ·  RFC 6238  ·  W3C WebAuthn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4370832"/>
            <a:ext cx="8375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de las ocho metricas del panel se declaran SIN DATOS: una cifra estimada no permite decidir, y su presencia invalidaria las demas.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29600" y="4809744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84048" y="4809744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MarketGT  ·  Seguridad y Auditoria de Sistemas  ·  UMG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entrega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2578608" cy="1691640"/>
          </a:xfrm>
          <a:prstGeom prst="rect">
            <a:avLst/>
          </a:prstGeom>
          <a:solidFill>
            <a:srgbClr val="17395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804672" y="1371600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PUBLICADO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" y="1627632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marketgt.duckdns.org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249424"/>
            <a:ext cx="22494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valido, HTTP/2 y el cortafuegos en linea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01568" y="1234440"/>
            <a:ext cx="2578608" cy="1691640"/>
          </a:xfrm>
          <a:prstGeom prst="rect">
            <a:avLst/>
          </a:prstGeom>
          <a:solidFill>
            <a:srgbClr val="17395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3566160" y="1371600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 Y DOCUMENTACION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66160" y="1627632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github.com/diegobeteta24/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marketgt-waf-iso27001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2249424"/>
            <a:ext cx="22494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Politica, matriz de riesgos y plan de respuesta a incidentes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63056" y="1234440"/>
            <a:ext cx="2578608" cy="1691640"/>
          </a:xfrm>
          <a:prstGeom prst="rect">
            <a:avLst/>
          </a:prstGeom>
          <a:solidFill>
            <a:srgbClr val="17395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6327648" y="1371600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LICENCIAMIENTO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27648" y="1627632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0.00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27648" y="2249424"/>
            <a:ext cx="22494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Cortafuegos, sistema operativo, base de datos, certificados y monitoreo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8083296" cy="8412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868680" y="3154680"/>
            <a:ext cx="762609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se puede medir, se declara.
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es lo que separa un sistema de gestion de la seguridad de un tablero bonito.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8083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9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Beteta   ·   Jonathan Herrera   ·   Mario Rompich          Seguridad y Auditoria de Sistemas  ·  UMG  ·  septiembre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1212</Words>
  <Application>Microsoft Office PowerPoint</Application>
  <PresentationFormat>Presentación en pantalla (16:9)</PresentationFormat>
  <Paragraphs>204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Mariano Galvez de Guatemala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MarketGT - Segundo Entregable</dc:title>
  <dc:subject>PptxGenJS Presentation</dc:subject>
  <dc:creator>Beteta Garcia, Herrera Soto y Rompich Yoc</dc:creator>
  <cp:lastModifiedBy>Diego Beteta Garcia</cp:lastModifiedBy>
  <cp:revision>1</cp:revision>
  <dcterms:created xsi:type="dcterms:W3CDTF">2026-09-22T23:23:37Z</dcterms:created>
  <dcterms:modified xsi:type="dcterms:W3CDTF">2026-09-22T23:28:55Z</dcterms:modified>
</cp:coreProperties>
</file>