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Mariano Galvez de Guatemala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9D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Facultad de Ingenieria en Sistemas de Informacion   ·   Seguridad y Auditoria de Sistemas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MarketGT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40080" y="201168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Comercio electronico con seguridad gestionada para la pequena empresa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58368" y="2578608"/>
            <a:ext cx="1463040" cy="41148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74320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FA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Segundo entregable del proyecto de curso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3218688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Diego Antonio Beteta Garcia</a:t>
            </a:r>
            <a:pPr indent="0" marL="0">
              <a:buNone/>
            </a:pPr>
            <a:r>
              <a:rPr lang="en-US" sz="1200" dirty="0">
                <a:solidFill>
                  <a:srgbClr val="9FB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9490-22-12878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3511296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Jonathan Rogelio Herrera Soto</a:t>
            </a:r>
            <a:pPr indent="0" marL="0">
              <a:buNone/>
            </a:pPr>
            <a:r>
              <a:rPr lang="en-US" sz="1200" dirty="0">
                <a:solidFill>
                  <a:srgbClr val="9FB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9490-22-11551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3803904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Mario Roberto Rompich Yoc</a:t>
            </a:r>
            <a:pPr indent="0" marL="0">
              <a:buNone/>
            </a:pPr>
            <a:r>
              <a:rPr lang="en-US" sz="1200" dirty="0">
                <a:solidFill>
                  <a:srgbClr val="9FB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9490-17-1752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89320" y="3154680"/>
            <a:ext cx="2743200" cy="960120"/>
          </a:xfrm>
          <a:prstGeom prst="rect">
            <a:avLst/>
          </a:prstGeom>
          <a:solidFill>
            <a:srgbClr val="17395C"/>
          </a:solidFill>
          <a:ln/>
        </p:spPr>
      </p:sp>
      <p:sp>
        <p:nvSpPr>
          <p:cNvPr id="13" name="Text 11"/>
          <p:cNvSpPr/>
          <p:nvPr/>
        </p:nvSpPr>
        <p:spPr>
          <a:xfrm>
            <a:off x="6126480" y="3154680"/>
            <a:ext cx="25603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B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Entorno publicado
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marketgt.duckdns.org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0080" y="44348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9D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Guatemala, 26 de septiembre de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41248"/>
            <a:ext cx="9144000" cy="50292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128016"/>
            <a:ext cx="457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6FA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118872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Negocio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841248" y="475488"/>
            <a:ext cx="8046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como servicio: el comerciante contrata la tienda y la seguridad que la protege, indivisibles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84048" y="1097280"/>
            <a:ext cx="4114800" cy="292608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8" name="Text 6"/>
          <p:cNvSpPr/>
          <p:nvPr/>
        </p:nvSpPr>
        <p:spPr>
          <a:xfrm>
            <a:off x="493776" y="1097280"/>
            <a:ext cx="38953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SEGMENTO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84048" y="1389888"/>
            <a:ext cx="4114800" cy="2395728"/>
          </a:xfrm>
          <a:prstGeom prst="rect">
            <a:avLst/>
          </a:prstGeom>
          <a:solidFill>
            <a:srgbClr val="F4F6F9"/>
          </a:solidFill>
          <a:ln w="12700">
            <a:solidFill>
              <a:srgbClr val="C8D0D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1517904"/>
            <a:ext cx="37947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2000"/>
              </a:lnSpc>
              <a:buSzPct val="100000"/>
              <a:buChar char="▪"/>
            </a:pPr>
            <a:r>
              <a:rPr lang="en-US" sz="1150" dirty="0">
                <a:solidFill>
                  <a:srgbClr val="141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PyME guatemalteca formalmente constituida</a:t>
            </a:r>
            <a:endParaRPr lang="en-US" sz="1150" dirty="0"/>
          </a:p>
          <a:p>
            <a:pPr marL="342900" indent="-342900">
              <a:lnSpc>
                <a:spcPct val="122000"/>
              </a:lnSpc>
              <a:buSzPct val="100000"/>
              <a:buChar char="▪"/>
            </a:pPr>
            <a:r>
              <a:rPr lang="en-US" sz="1150" dirty="0">
                <a:solidFill>
                  <a:srgbClr val="141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1 a 20 empleados</a:t>
            </a:r>
            <a:endParaRPr lang="en-US" sz="1150" dirty="0"/>
          </a:p>
          <a:p>
            <a:pPr marL="342900" indent="-342900">
              <a:lnSpc>
                <a:spcPct val="122000"/>
              </a:lnSpc>
              <a:buSzPct val="100000"/>
              <a:buChar char="▪"/>
            </a:pPr>
            <a:r>
              <a:rPr lang="en-US" sz="1150" dirty="0">
                <a:solidFill>
                  <a:srgbClr val="141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Vende hoy por redes sociales, sin tienda propia</a:t>
            </a:r>
            <a:endParaRPr lang="en-US" sz="1150" dirty="0"/>
          </a:p>
          <a:p>
            <a:pPr marL="342900" indent="-342900">
              <a:lnSpc>
                <a:spcPct val="122000"/>
              </a:lnSpc>
              <a:buSzPct val="100000"/>
              <a:buChar char="▪"/>
            </a:pPr>
            <a:r>
              <a:rPr lang="en-US" sz="1150" dirty="0">
                <a:solidFill>
                  <a:srgbClr val="141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Cero personal dedicado a TI o a seguridad</a:t>
            </a:r>
            <a:endParaRPr lang="en-US" sz="1150" dirty="0"/>
          </a:p>
          <a:p>
            <a:pPr marL="342900" indent="-342900">
              <a:lnSpc>
                <a:spcPct val="122000"/>
              </a:lnSpc>
              <a:buSzPct val="100000"/>
              <a:buChar char="▪"/>
            </a:pPr>
            <a:r>
              <a:rPr lang="en-US" sz="1150" dirty="0">
                <a:solidFill>
                  <a:srgbClr val="141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tecnologico menor a Q1,000 al mes</a:t>
            </a:r>
            <a:endParaRPr lang="en-US" sz="1150" dirty="0"/>
          </a:p>
          <a:p>
            <a:pPr marL="342900" indent="-342900">
              <a:lnSpc>
                <a:spcPct val="122000"/>
              </a:lnSpc>
              <a:buSzPct val="100000"/>
              <a:buChar char="▪"/>
            </a:pPr>
            <a:r>
              <a:rPr lang="en-US" sz="1150" dirty="0">
                <a:solidFill>
                  <a:srgbClr val="141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Obligada al regimen de factura electronica (FEL)</a:t>
            </a:r>
            <a:endParaRPr lang="en-US" sz="1150" dirty="0"/>
          </a:p>
          <a:p>
            <a:pPr marL="342900" indent="-342900">
              <a:lnSpc>
                <a:spcPct val="122000"/>
              </a:lnSpc>
              <a:buSzPct val="100000"/>
              <a:buChar char="▪"/>
            </a:pPr>
            <a:r>
              <a:rPr lang="en-US" sz="1150" dirty="0">
                <a:solidFill>
                  <a:srgbClr val="141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Cobra por transferencia, deposito y contra entrega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645152" y="1097280"/>
            <a:ext cx="4114800" cy="292608"/>
          </a:xfrm>
          <a:prstGeom prst="rect">
            <a:avLst/>
          </a:prstGeom>
          <a:solidFill>
            <a:srgbClr val="1F6B42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0" y="1097280"/>
            <a:ext cx="38953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ESTE SEGMENTO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45152" y="1389888"/>
            <a:ext cx="4114800" cy="2395728"/>
          </a:xfrm>
          <a:prstGeom prst="rect">
            <a:avLst/>
          </a:prstGeom>
          <a:solidFill>
            <a:srgbClr val="F4F6F9"/>
          </a:solidFill>
          <a:ln w="12700">
            <a:solidFill>
              <a:srgbClr val="C8D0D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28032" y="1517904"/>
            <a:ext cx="37947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Exposicion.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41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 una aplicacion en Internet con la misma superficie de ataque que una empresa grande, sin ninguna de sus capacidades defensivas.
</a:t>
            </a:r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Incentivo.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41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plataformas internacionales cobran en dolares mas comision por venta: exposicion cambiaria mensual sobre margenes estrechos.
</a:t>
            </a:r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Cumplimiento.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41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factura electronica y las obligaciones sobre datos personales aplican sin importar el tamano. Una plataforma extranjera no las contempla.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84048" y="4005072"/>
            <a:ext cx="8375904" cy="493776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4005072"/>
            <a:ext cx="801014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propuesta de valor no es la tienda: es que la seguridad deje de ser responsabilidad de quien no puede asumirla.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229600" y="4809744"/>
            <a:ext cx="685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7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84048" y="4809744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MarketGT  ·  Seguridad y Auditoria de Sistemas  ·  UMG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41248"/>
            <a:ext cx="9144000" cy="50292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128016"/>
            <a:ext cx="457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6FA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118872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de Seguridad   ·   ANTES de la implementacion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841248" y="475488"/>
            <a:ext cx="8046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(hardware y software) e Informacion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84048" y="1078992"/>
            <a:ext cx="4114800" cy="292608"/>
          </a:xfrm>
          <a:prstGeom prst="rect">
            <a:avLst/>
          </a:prstGeom>
          <a:solidFill>
            <a:srgbClr val="B32424"/>
          </a:solidFill>
          <a:ln/>
        </p:spPr>
      </p:sp>
      <p:sp>
        <p:nvSpPr>
          <p:cNvPr id="8" name="Text 6"/>
          <p:cNvSpPr/>
          <p:nvPr/>
        </p:nvSpPr>
        <p:spPr>
          <a:xfrm>
            <a:off x="493776" y="1078992"/>
            <a:ext cx="38953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 ·  HARDWARE Y SOFTWARE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75488" y="1444752"/>
            <a:ext cx="393192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Hardware.  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41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Infraestructura virtualizada de un tercero: no hay control fisico del equipo. El perimetro deja de ser una puerta y pasa a ser la interfaz de red publicada.
</a:t>
            </a:r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Software.  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41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Aplicacion web accesible 24/7, sin autenticacion previa en el catalogo publico.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2542032"/>
          <a:ext cx="4114800" cy="914400"/>
        </p:xfrm>
        <a:graphic>
          <a:graphicData uri="http://schemas.openxmlformats.org/drawingml/2006/table">
            <a:tbl>
              <a:tblPr/>
              <a:tblGrid>
                <a:gridCol w="2971800"/>
                <a:gridCol w="1143000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Vulnerabilidad web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324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Frecuencia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32424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Cross-Site Scripting (XSS)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B324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14.69 %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Componentes desactualizados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B324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12.36 %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Autenticacion debil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B324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9.25 %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Inyeccion SQL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B324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5.55 %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4645152" y="1078992"/>
            <a:ext cx="4114800" cy="292608"/>
          </a:xfrm>
          <a:prstGeom prst="rect">
            <a:avLst/>
          </a:prstGeom>
          <a:solidFill>
            <a:srgbClr val="B32424"/>
          </a:solidFill>
          <a:ln/>
        </p:spPr>
      </p:sp>
      <p:sp>
        <p:nvSpPr>
          <p:cNvPr id="12" name="Text 9"/>
          <p:cNvSpPr/>
          <p:nvPr/>
        </p:nvSpPr>
        <p:spPr>
          <a:xfrm>
            <a:off x="4754880" y="1078992"/>
            <a:ext cx="38953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INFORMACION EN CUSTODIA</a:t>
            </a:r>
            <a:endParaRPr lang="en-US" sz="11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45152" y="1444752"/>
          <a:ext cx="4114800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141732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324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Impacto si se divulga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3242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Credenciales y segundo factor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324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Medios de pago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324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Datos personales de clientes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Catalogo, precios e historial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10"/>
          <p:cNvSpPr/>
          <p:nvPr/>
        </p:nvSpPr>
        <p:spPr>
          <a:xfrm>
            <a:off x="4645152" y="2971800"/>
            <a:ext cx="4114800" cy="749808"/>
          </a:xfrm>
          <a:prstGeom prst="rect">
            <a:avLst/>
          </a:prstGeom>
          <a:solidFill>
            <a:srgbClr val="F4F6F9"/>
          </a:solidFill>
          <a:ln w="12700">
            <a:solidFill>
              <a:srgbClr val="C8D0DA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4791456" y="2971800"/>
            <a:ext cx="38404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informacion comprometida no es del comerciante: </a:t>
            </a:r>
            <a:pPr indent="0" marL="0">
              <a:buNone/>
            </a:pPr>
            <a:r>
              <a:rPr lang="en-US" sz="1050" dirty="0">
                <a:solidFill>
                  <a:srgbClr val="141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de sus clientes, que no decidieron contratar el servicio ni pueden evaluar su seguridad.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384048" y="3950208"/>
            <a:ext cx="8375904" cy="493776"/>
          </a:xfrm>
          <a:prstGeom prst="rect">
            <a:avLst/>
          </a:prstGeom>
          <a:solidFill>
            <a:srgbClr val="B32424"/>
          </a:solidFill>
          <a:ln/>
        </p:spPr>
      </p:sp>
      <p:sp>
        <p:nvSpPr>
          <p:cNvPr id="17" name="Text 13"/>
          <p:cNvSpPr/>
          <p:nvPr/>
        </p:nvSpPr>
        <p:spPr>
          <a:xfrm>
            <a:off x="566928" y="3950208"/>
            <a:ext cx="801014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inicial:  sin inspeccion de trafico  ·  solo contrasena  ·  sin monitoreo  ·  sin plan de respuesta  ·  un ataque exitoso no deja rastro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8229600" y="4809744"/>
            <a:ext cx="685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7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384048" y="4809744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MarketGT  ·  Seguridad y Auditoria de Sistemas  ·  UMG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41248"/>
            <a:ext cx="9144000" cy="50292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128016"/>
            <a:ext cx="457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6FA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118872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Clasificacion de Vulnerabilidad o Amenaza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841248" y="475488"/>
            <a:ext cx="8046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naturaleza tecnica, categoria OWASP Top 10:2025, vector, criticidad y principio afectado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097280"/>
          <a:ext cx="8375904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572768"/>
                <a:gridCol w="1508760"/>
                <a:gridCol w="1664208"/>
                <a:gridCol w="1115568"/>
                <a:gridCol w="9144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Amenaza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Naturaleza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OWASP 2025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Vector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Criticidad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C-I-D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94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Inyeccion SQL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Validacion de entrada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A05 Inyeccion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Remoto no autenticado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324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 I  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Autenticacion debil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 de acceso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A07 Autenticacion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Remoto no autenticado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324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 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Cross-Site Scripting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Validacion de salida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A05 Inyeccion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Remoto, via usuario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 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Componentes vulnerables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Cadena de suministro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A03 Cadena de sum.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Remoto, dependencia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 I  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Configuracion insegura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Configuracion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A02 Config. incorrecta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 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Envenenamiento SEO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 de contenido y abuso de reputacion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B324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cobertura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Remoto, via inyeccion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6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384048" y="3584448"/>
            <a:ext cx="8375904" cy="658368"/>
          </a:xfrm>
          <a:prstGeom prst="rect">
            <a:avLst/>
          </a:prstGeom>
          <a:solidFill>
            <a:srgbClr val="F4F6F9"/>
          </a:solidFill>
          <a:ln w="19050">
            <a:solidFill>
              <a:srgbClr val="8A5A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3584448"/>
            <a:ext cx="801014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fila resaltada es el hallazgo del proyecto.  </a:t>
            </a:r>
            <a:pPr indent="0" marL="0">
              <a:buNone/>
            </a:pPr>
            <a:r>
              <a:rPr lang="en-US" sz="1050" dirty="0">
                <a:solidFill>
                  <a:srgbClr val="141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envenenamiento de posicionamiento no aparece en el OWASP Top 10 ni existe conjunto de reglas publico que lo cubra: OWASP clasifica la </a:t>
            </a:r>
            <a:pPr indent="0" marL="0">
              <a:buNone/>
            </a:pPr>
            <a:r>
              <a:rPr lang="en-US" sz="1050" i="1" dirty="0">
                <a:solidFill>
                  <a:srgbClr val="141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de entrada</a:t>
            </a:r>
            <a:pPr indent="0" marL="0">
              <a:buNone/>
            </a:pPr>
            <a:r>
              <a:rPr lang="en-US" sz="1050" dirty="0">
                <a:solidFill>
                  <a:srgbClr val="141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 ataque, no el </a:t>
            </a:r>
            <a:pPr indent="0" marL="0">
              <a:buNone/>
            </a:pPr>
            <a:r>
              <a:rPr lang="en-US" sz="1050" i="1" dirty="0">
                <a:solidFill>
                  <a:srgbClr val="141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pPr indent="0" marL="0">
              <a:buNone/>
            </a:pPr>
            <a:r>
              <a:rPr lang="en-US" sz="1050" dirty="0">
                <a:solidFill>
                  <a:srgbClr val="141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quien busca posicionar contenido ajeno en un dominio con reputacion.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384048" y="4334256"/>
            <a:ext cx="83759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= Confidencialidad   ·   I = Integridad   ·   D = Disponibilidad          Criticidad = probabilidad observada x impacto sobre el segmento objetivo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229600" y="4809744"/>
            <a:ext cx="685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7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384048" y="4809744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MarketGT  ·  Seguridad y Auditoria de Sistemas  ·  UMG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41248"/>
            <a:ext cx="9144000" cy="50292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128016"/>
            <a:ext cx="457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6FA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118872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Solucion Tecnologica   ·   CASO PRACTICO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841248" y="475488"/>
            <a:ext cx="8046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capas de defensa en profundidad, y el caso real que definio las reglas propias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84048" y="1078992"/>
            <a:ext cx="3950208" cy="292608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8" name="Text 6"/>
          <p:cNvSpPr/>
          <p:nvPr/>
        </p:nvSpPr>
        <p:spPr>
          <a:xfrm>
            <a:off x="493776" y="1078992"/>
            <a:ext cx="37307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SEIS CAPAS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444752"/>
          <a:ext cx="395020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2651760"/>
              </a:tblGrid>
              <a:tr h="2697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  Perimetro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Cloudflare  ·  mitigacion de denegacion de servicio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  Red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UFW y fail2ban  ·  solo 80 y 443 abiertos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  Sistema operativo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Ubuntu con endurecimiento CIS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F4C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  Cortafuegos web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F4C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ModSecurity 3 + OWASP CRS 4.29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  Aplicacion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Laravel  ·  TOTP + WebAuthn  ·  roles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 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MariaDB cifrada  ·  respaldo externo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384048" y="3127248"/>
            <a:ext cx="395020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red entre el cortafuegos y la aplicacion se declara interna: </a:t>
            </a:r>
            <a:pPr indent="0" marL="0">
              <a:buNone/>
            </a:pPr>
            <a:r>
              <a:rPr lang="en-US" sz="1000" dirty="0">
                <a:solidFill>
                  <a:srgbClr val="141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existe ninguna ruta que alcance la aplicacion sin atravesar el WAF, y eso se verifica desde fuera.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53712" y="1078992"/>
            <a:ext cx="4206240" cy="292608"/>
          </a:xfrm>
          <a:prstGeom prst="rect">
            <a:avLst/>
          </a:prstGeom>
          <a:solidFill>
            <a:srgbClr val="B32424"/>
          </a:solidFill>
          <a:ln/>
        </p:spPr>
      </p:sp>
      <p:sp>
        <p:nvSpPr>
          <p:cNvPr id="12" name="Text 9"/>
          <p:cNvSpPr/>
          <p:nvPr/>
        </p:nvSpPr>
        <p:spPr>
          <a:xfrm>
            <a:off x="4663440" y="1078992"/>
            <a:ext cx="39867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PRACTICO  ·  EMPRESA REAL, DOMINIO ANONIMO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553712" y="1426464"/>
            <a:ext cx="4206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Consola de busqueda de una empresa guatemalteca de videovigilancia:</a:t>
            </a:r>
            <a:endParaRPr lang="en-US" sz="10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53712" y="1682496"/>
          <a:ext cx="4206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731520"/>
                <a:gridCol w="731520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Consulta que posiciona el dominio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Clics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94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6B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camaras de seguridad guatemala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B324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p9bet login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B324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0016bet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B324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96n.com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B324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kmj888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A"/>
                    </a:solidFill>
                  </a:tcPr>
                </a:tc>
              </a:tr>
            </a:tbl>
          </a:graphicData>
        </a:graphic>
      </p:graphicFrame>
      <p:sp>
        <p:nvSpPr>
          <p:cNvPr id="15" name="Text 11"/>
          <p:cNvSpPr/>
          <p:nvPr/>
        </p:nvSpPr>
        <p:spPr>
          <a:xfrm>
            <a:off x="4553712" y="3273552"/>
            <a:ext cx="4206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Diagnostico. 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41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Muchas impresiones y cero clics: el buscador muestra el dominio por contenido que no le pertenece. Invisible para el dueno, porque el sitio se ve normal.
</a:t>
            </a:r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Respuesta. 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41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reglas propias en el rango 15000-15099: rastreador falsificado, contenido diferenciado, inyeccion de enlaces, redireccion abierta y extraccion masiva.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384048" y="4315968"/>
            <a:ext cx="8375904" cy="493776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17" name="Text 13"/>
          <p:cNvSpPr/>
          <p:nvPr/>
        </p:nvSpPr>
        <p:spPr>
          <a:xfrm>
            <a:off x="566928" y="4315968"/>
            <a:ext cx="801014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Verificable en vivo:  un ataque devuelve 403 con el ID de la regla activada y su puntuacion de anomalia  ·  marketgt.duckdns.org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8229600" y="4809744"/>
            <a:ext cx="685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7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384048" y="4809744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MarketGT  ·  Seguridad y Auditoria de Sistemas  ·  UMG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41248"/>
            <a:ext cx="9144000" cy="50292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128016"/>
            <a:ext cx="457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6FA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118872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Mejoras en base a Estandar   ·   DESPUES de la implementacion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841248" y="475488"/>
            <a:ext cx="8046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27001:2022 como marco rector, con OWASP, CIS y NIST aportando el detalle tecnico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078992"/>
          <a:ext cx="8375904" cy="914400"/>
        </p:xfrm>
        <a:graphic>
          <a:graphicData uri="http://schemas.openxmlformats.org/drawingml/2006/table">
            <a:tbl>
              <a:tblPr/>
              <a:tblGrid>
                <a:gridCol w="1572768"/>
                <a:gridCol w="1627632"/>
                <a:gridCol w="4041648"/>
                <a:gridCol w="1133856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DESPUES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Anexo 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94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Inspeccion de trafico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324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Ninguna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6B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ModSecurity 3 + OWASP CRS 4.29, paranoia 1 / deteccion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Autenticacion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324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Solo contrasena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6B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TOTP (RFC 6238) + WebAuthn resistente a suplantacion de sitio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Endurecimiento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324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Instalacion por defecto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6B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CIS Benchmark de Ubuntu y parcheo automatico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324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Ninguna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6B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Panel propio: ingesta, correlacion y alertas con estado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8.15, 8.16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Respuesta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324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Ausente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6B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NIST SP 800-61, respaldo cifrado y restauracion probada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5.24-5.28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 SEO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324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cobertura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6B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 reglas propias y verificacion de rastreadores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1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384048" y="3401568"/>
            <a:ext cx="3950208" cy="292608"/>
          </a:xfrm>
          <a:prstGeom prst="rect">
            <a:avLst/>
          </a:prstGeom>
          <a:solidFill>
            <a:srgbClr val="1F6B42"/>
          </a:solidFill>
          <a:ln/>
        </p:spPr>
      </p:sp>
      <p:sp>
        <p:nvSpPr>
          <p:cNvPr id="9" name="Text 6"/>
          <p:cNvSpPr/>
          <p:nvPr/>
        </p:nvSpPr>
        <p:spPr>
          <a:xfrm>
            <a:off x="493776" y="3401568"/>
            <a:ext cx="37307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TRIANGULO DE CIBERRESILIENCIA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84048" y="3694176"/>
            <a:ext cx="3950208" cy="566928"/>
          </a:xfrm>
          <a:prstGeom prst="rect">
            <a:avLst/>
          </a:prstGeom>
          <a:solidFill>
            <a:srgbClr val="F4F6F9"/>
          </a:solidFill>
          <a:ln w="12700">
            <a:solidFill>
              <a:srgbClr val="C8D0D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" y="3694176"/>
            <a:ext cx="3749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6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Proteccion </a:t>
            </a:r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desarrollada   ·   </a:t>
            </a:r>
            <a:pPr indent="0" marL="0">
              <a:buNone/>
            </a:pPr>
            <a:r>
              <a:rPr lang="en-US" sz="1000" b="1" dirty="0">
                <a:solidFill>
                  <a:srgbClr val="1F6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Deteccion </a:t>
            </a:r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parcial   ·   </a:t>
            </a:r>
            <a:pPr indent="0" marL="0">
              <a:buNone/>
            </a:pPr>
            <a:r>
              <a:rPr lang="en-US" sz="1000" b="1" dirty="0">
                <a:solidFill>
                  <a:srgbClr val="1F6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</a:t>
            </a:r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ausente, hoy operativa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53712" y="3401568"/>
            <a:ext cx="4206240" cy="292608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13" name="Text 10"/>
          <p:cNvSpPr/>
          <p:nvPr/>
        </p:nvSpPr>
        <p:spPr>
          <a:xfrm>
            <a:off x="4663440" y="3401568"/>
            <a:ext cx="39867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ESTANDARES APLICADOS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53712" y="3694176"/>
            <a:ext cx="4206240" cy="566928"/>
          </a:xfrm>
          <a:prstGeom prst="rect">
            <a:avLst/>
          </a:prstGeom>
          <a:solidFill>
            <a:srgbClr val="F4F6F9"/>
          </a:solidFill>
          <a:ln w="12700">
            <a:solidFill>
              <a:srgbClr val="C8D0D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672584" y="3694176"/>
            <a:ext cx="39684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27001:2022  ·  ISO/IEC 27002:2022  ·  OWASP Top 10:2025  ·  OWASP CRS 4.29  ·  PCI DSS v4.0 req. 6.4.2  ·  CIS Benchmark  ·  NIST SP 800-61 y 800-63B  ·  RFC 6238  ·  W3C WebAuthn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384048" y="4370832"/>
            <a:ext cx="8375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de las ocho metricas del panel se declaran SIN DATOS: una cifra estimada no permite decidir, y su presencia invalidaria las demas.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8229600" y="4809744"/>
            <a:ext cx="685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7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384048" y="4809744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MarketGT  ·  Seguridad y Auditoria de Sistemas  ·  UMG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2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75488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se entrega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234440"/>
            <a:ext cx="2578608" cy="1691640"/>
          </a:xfrm>
          <a:prstGeom prst="rect">
            <a:avLst/>
          </a:prstGeom>
          <a:solidFill>
            <a:srgbClr val="17395C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1371600"/>
            <a:ext cx="224942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9FB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ENTORNO PUBLICADO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" y="1627632"/>
            <a:ext cx="2249424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marketgt.duckdns.org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04672" y="2249424"/>
            <a:ext cx="2249424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CC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valido, HTTP/2 y el cortafuegos en linea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401568" y="1234440"/>
            <a:ext cx="2578608" cy="1691640"/>
          </a:xfrm>
          <a:prstGeom prst="rect">
            <a:avLst/>
          </a:prstGeom>
          <a:solidFill>
            <a:srgbClr val="17395C"/>
          </a:solidFill>
          <a:ln/>
        </p:spPr>
      </p:sp>
      <p:sp>
        <p:nvSpPr>
          <p:cNvPr id="9" name="Text 7"/>
          <p:cNvSpPr/>
          <p:nvPr/>
        </p:nvSpPr>
        <p:spPr>
          <a:xfrm>
            <a:off x="3566160" y="1371600"/>
            <a:ext cx="224942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9FB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CODIGO Y DOCUMENTACION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566160" y="1627632"/>
            <a:ext cx="2249424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github.com/diegobeteta24/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marketgt-waf-iso27001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566160" y="2249424"/>
            <a:ext cx="2249424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CC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Politica, matriz de riesgos y plan de respuesta a incidentes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163056" y="1234440"/>
            <a:ext cx="2578608" cy="1691640"/>
          </a:xfrm>
          <a:prstGeom prst="rect">
            <a:avLst/>
          </a:prstGeom>
          <a:solidFill>
            <a:srgbClr val="17395C"/>
          </a:solidFill>
          <a:ln/>
        </p:spPr>
      </p:sp>
      <p:sp>
        <p:nvSpPr>
          <p:cNvPr id="13" name="Text 11"/>
          <p:cNvSpPr/>
          <p:nvPr/>
        </p:nvSpPr>
        <p:spPr>
          <a:xfrm>
            <a:off x="6327648" y="1371600"/>
            <a:ext cx="224942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9FB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DE LICENCIAMIENTO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327648" y="1627632"/>
            <a:ext cx="2249424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0.00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327648" y="2249424"/>
            <a:ext cx="2249424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CC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Cortafuegos, sistema operativo, base de datos, certificados y monitoreo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40080" y="3154680"/>
            <a:ext cx="8083296" cy="8412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3154680"/>
            <a:ext cx="7626096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no se puede medir, se declara.
</a:t>
            </a:r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Eso es lo que separa un sistema de gestion de la seguridad de un tablero bonito.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0080" y="4297680"/>
            <a:ext cx="8083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9D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Diego Beteta   ·   Jonathan Herrera   ·   Mario Rompich          Seguridad y Auditoria de Sistemas  ·  UMG  ·  septiembre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Universidad Mariano Galvez de Guatemala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MarketGT - Segundo Entregable</dc:title>
  <dc:subject>PptxGenJS Presentation</dc:subject>
  <dc:creator>Beteta Garcia, Herrera Soto y Rompich Yoc</dc:creator>
  <cp:lastModifiedBy>Beteta Garcia, Herrera Soto y Rompich Yoc</cp:lastModifiedBy>
  <cp:revision>1</cp:revision>
  <dcterms:created xsi:type="dcterms:W3CDTF">2026-09-22T23:23:37Z</dcterms:created>
  <dcterms:modified xsi:type="dcterms:W3CDTF">2026-09-22T23:23:37Z</dcterms:modified>
</cp:coreProperties>
</file>